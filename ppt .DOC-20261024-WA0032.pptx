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15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2.png" ContentType="image/png"/>
  <Override PartName="/ppt/media/image9.png" ContentType="image/png"/>
  <Override PartName="/ppt/media/image11.png" ContentType="image/png"/>
  <Override PartName="/ppt/media/image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93F1679C-9971-4C66-8B2F-8C5EBE8C51DA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4514A4-29AB-4A23-81EC-35668C5F9C4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3CB0FC-6415-4E58-B607-BE177F58805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D44E2B-6DCC-40FE-B3AB-C301E320B10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EB069D-57E0-4EA0-B783-49D2A84AE5F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CEABFE-3B4A-4564-8A8A-32EE6A90801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14FC62-E9E6-4FEB-B233-1EC6215B1EE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72E8F-DE5D-4062-B7A1-6FA2E89FDD3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0A0774-9132-4752-A7FB-E5F516788ADE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Hero image" descr="Night city skyline with connected sensor network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Overlay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e20">
              <a:alpha val="62000"/>
            </a:srgbClr>
          </a:solidFill>
          <a:ln w="12700">
            <a:solidFill>
              <a:srgbClr val="050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731520" y="210312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SMART CITIES &amp; CIVILTECH</a:t>
            </a:r>
            <a:endParaRPr b="0" lang="en-US" sz="5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731520" y="329184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ddebfa"/>
                </a:solidFill>
                <a:uFillTx/>
                <a:latin typeface="Calibri"/>
                <a:ea typeface="Calibri"/>
              </a:rPr>
              <a:t>Open CivilTech Innovation: Making Urban Services Work Better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31520" y="48463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5b93a"/>
                </a:solidFill>
                <a:uFillTx/>
                <a:latin typeface="Calibri"/>
                <a:ea typeface="Calibri"/>
              </a:rPr>
              <a:t>Presented by: (TEAM _TITANS)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b1f3a"/>
                </a:solidFill>
                <a:uFillTx/>
                <a:latin typeface="Cambria"/>
                <a:ea typeface="Cambria"/>
              </a:rPr>
              <a:t>The Shift to Open Innovation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Text panel"/>
          <p:cNvSpPr/>
          <p:nvPr/>
        </p:nvSpPr>
        <p:spPr>
          <a:xfrm>
            <a:off x="548640" y="1371600"/>
            <a:ext cx="5668920" cy="4937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822960" y="169164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Citizen-Centric Ecosystems: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Transitioning away from top-down generic corporate frameworks to locally tailored municipal infrastructure.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Living Laboratories: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Active operational testing grounds utilizing open-source collaborative software like 311 systems.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Breaking Hierarchies: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Empowering local grass-roots initiatives to organically influence municipal software iterations directly.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Citizens collaborating with their city frame"/>
          <p:cNvSpPr/>
          <p:nvPr/>
        </p:nvSpPr>
        <p:spPr>
          <a:xfrm>
            <a:off x="6419160" y="1389960"/>
            <a:ext cx="5312160" cy="4900680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" name="Citizens collaborating with their city" descr="Citizens collaborating with their city"/>
          <p:cNvPicPr/>
          <p:nvPr/>
        </p:nvPicPr>
        <p:blipFill>
          <a:blip r:embed="rId2"/>
          <a:stretch/>
        </p:blipFill>
        <p:spPr>
          <a:xfrm>
            <a:off x="6492240" y="1463040"/>
            <a:ext cx="5166000" cy="475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b1f3a"/>
                </a:solidFill>
                <a:uFillTx/>
                <a:latin typeface="Cambria"/>
                <a:ea typeface="Cambria"/>
              </a:rPr>
              <a:t>CivilTech Infrastructure Pillars – Part 1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Connected city bus card"/>
          <p:cNvSpPr/>
          <p:nvPr/>
        </p:nvSpPr>
        <p:spPr>
          <a:xfrm>
            <a:off x="548640" y="1325880"/>
            <a:ext cx="5440320" cy="512028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" name="Connected city bus" descr="Connected city bus"/>
          <p:cNvPicPr/>
          <p:nvPr/>
        </p:nvPicPr>
        <p:blipFill>
          <a:blip r:embed="rId2"/>
          <a:stretch/>
        </p:blipFill>
        <p:spPr>
          <a:xfrm>
            <a:off x="731520" y="1508760"/>
            <a:ext cx="507456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777240" y="4251960"/>
            <a:ext cx="49831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Urban Mobility &amp; Transport: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IoT-enabled mass transit nodes integrated directly into cloud data platforms for real-time traffic updates.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Primary Transit Benefit: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Dynamic route adjustments yielding rapid carbon emission and congestion drops.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Underground water pipes with leak sensors card"/>
          <p:cNvSpPr/>
          <p:nvPr/>
        </p:nvSpPr>
        <p:spPr>
          <a:xfrm>
            <a:off x="6217920" y="1325880"/>
            <a:ext cx="5440320" cy="512028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" name="Underground water pipes with leak sensors" descr="Underground water pipes with leak sensors"/>
          <p:cNvPicPr/>
          <p:nvPr/>
        </p:nvPicPr>
        <p:blipFill>
          <a:blip r:embed="rId3"/>
          <a:stretch/>
        </p:blipFill>
        <p:spPr>
          <a:xfrm>
            <a:off x="6400800" y="1508760"/>
            <a:ext cx="507456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6446520" y="4251960"/>
            <a:ext cx="49831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Smart Water Management: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Automated Sensing &amp; Data Collection Systems (SDCS) tracking localized structural flow patterns.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Primary Water Benefit: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Immediate precision mapping of infrastructure leaks guaranteeing stable, clean urban resource access.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b1f3a"/>
                </a:solidFill>
                <a:uFillTx/>
                <a:latin typeface="Cambria"/>
                <a:ea typeface="Cambria"/>
              </a:rPr>
              <a:t>CivilTech Infrastructure Pillars – Part 2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Wind turbines and solar panels card"/>
          <p:cNvSpPr/>
          <p:nvPr/>
        </p:nvSpPr>
        <p:spPr>
          <a:xfrm>
            <a:off x="548640" y="1325880"/>
            <a:ext cx="5440320" cy="512028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" name="Wind turbines and solar panels" descr="Wind turbines and solar panels"/>
          <p:cNvPicPr/>
          <p:nvPr/>
        </p:nvPicPr>
        <p:blipFill>
          <a:blip r:embed="rId2"/>
          <a:stretch/>
        </p:blipFill>
        <p:spPr>
          <a:xfrm>
            <a:off x="731520" y="1508760"/>
            <a:ext cx="507456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2"/>
          <p:cNvSpPr/>
          <p:nvPr/>
        </p:nvSpPr>
        <p:spPr>
          <a:xfrm>
            <a:off x="777240" y="4251960"/>
            <a:ext cx="49831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Energy &amp; Smart Grids: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Demand-based energy routing matrices embedding localized wind and solar microgrid arrays.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Primary Energy Benefit: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Significantly downsized carbon footprints coupled with scalable local backup capacity grids.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Circular economy recycling bins card"/>
          <p:cNvSpPr/>
          <p:nvPr/>
        </p:nvSpPr>
        <p:spPr>
          <a:xfrm>
            <a:off x="6217920" y="1325880"/>
            <a:ext cx="5440320" cy="512028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" name="Circular economy recycling bins" descr="Circular economy recycling bins"/>
          <p:cNvPicPr/>
          <p:nvPr/>
        </p:nvPicPr>
        <p:blipFill>
          <a:blip r:embed="rId3"/>
          <a:stretch/>
        </p:blipFill>
        <p:spPr>
          <a:xfrm>
            <a:off x="6400800" y="1508760"/>
            <a:ext cx="507456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4"/>
          <p:cNvSpPr/>
          <p:nvPr/>
        </p:nvSpPr>
        <p:spPr>
          <a:xfrm>
            <a:off x="6446520" y="4251960"/>
            <a:ext cx="49831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Sanitation &amp; Waste Networks: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'Zero Waste' target operational schemas incorporating weight-sensing tracking logistics.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5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Primary Waste Benefit: </a:t>
            </a:r>
            <a:r>
              <a:rPr b="0" lang="en-US" sz="15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Drastically streamlined solid refuse sorting to construct reliable circular economic loops.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b1f3a"/>
                </a:solidFill>
                <a:uFillTx/>
                <a:latin typeface="Cambria"/>
                <a:ea typeface="Cambria"/>
              </a:rPr>
              <a:t>CivilTech Infrastructure Pillars – Part 3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Text panel"/>
          <p:cNvSpPr/>
          <p:nvPr/>
        </p:nvSpPr>
        <p:spPr>
          <a:xfrm>
            <a:off x="548640" y="1371600"/>
            <a:ext cx="5668920" cy="4937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822960" y="169164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Housing &amp; Public Spaces: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Universally accessible, non-exclusionary modular structural assets serving urban centers.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Climate Resilience: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Civil engineering layouts structured specifically to absorb immediate, unpredictable environmental shifts.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Socioeconomic Vulnerability: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Deploying low-cost adaptive building profiles protecting low-income demographics from displacement.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Resilient modular housing in a storm frame"/>
          <p:cNvSpPr/>
          <p:nvPr/>
        </p:nvSpPr>
        <p:spPr>
          <a:xfrm>
            <a:off x="6419160" y="1389960"/>
            <a:ext cx="5312160" cy="4900680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6" name="Resilient modular housing in a storm" descr="Resilient modular housing in a storm"/>
          <p:cNvPicPr/>
          <p:nvPr/>
        </p:nvPicPr>
        <p:blipFill>
          <a:blip r:embed="rId2"/>
          <a:stretch/>
        </p:blipFill>
        <p:spPr>
          <a:xfrm>
            <a:off x="6492240" y="1463040"/>
            <a:ext cx="5166000" cy="475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b1f3a"/>
                </a:solidFill>
                <a:uFillTx/>
                <a:latin typeface="Cambria"/>
                <a:ea typeface="Cambria"/>
              </a:rPr>
              <a:t>How Open Innovation Drives Value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Interoperable open-standard ecosystem frame"/>
          <p:cNvSpPr/>
          <p:nvPr/>
        </p:nvSpPr>
        <p:spPr>
          <a:xfrm>
            <a:off x="567000" y="1481400"/>
            <a:ext cx="4809240" cy="47178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9" name="Interoperable open-standard ecosystem" descr="Interoperable open-standard ecosystem"/>
          <p:cNvPicPr/>
          <p:nvPr/>
        </p:nvPicPr>
        <p:blipFill>
          <a:blip r:embed="rId2"/>
          <a:stretch/>
        </p:blipFill>
        <p:spPr>
          <a:xfrm>
            <a:off x="640080" y="1554480"/>
            <a:ext cx="466308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Card 1"/>
          <p:cNvSpPr/>
          <p:nvPr/>
        </p:nvSpPr>
        <p:spPr>
          <a:xfrm>
            <a:off x="5669280" y="1463040"/>
            <a:ext cx="598896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5852160" y="1536120"/>
            <a:ext cx="562320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Local Tech Ecosystems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4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Utilizing municipal frameworks as active testbeds for open-source municipal software applications to unlock native entrepreneurial potential.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Card 2"/>
          <p:cNvSpPr/>
          <p:nvPr/>
        </p:nvSpPr>
        <p:spPr>
          <a:xfrm>
            <a:off x="5669280" y="3090600"/>
            <a:ext cx="598896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852160" y="3163680"/>
            <a:ext cx="562320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Interoperability Assets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4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Basing builds on standardized open pathways like ITU-T Y.4200 series recommendations to remove single-vendor proprietary dependencies.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Card 3"/>
          <p:cNvSpPr/>
          <p:nvPr/>
        </p:nvSpPr>
        <p:spPr>
          <a:xfrm>
            <a:off x="5669280" y="4718160"/>
            <a:ext cx="5988960" cy="148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852160" y="4791600"/>
            <a:ext cx="562320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Agile Decentralisation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4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Bypassing heavy, deadlocked city administration layers to allow fast, direct feature updates sourced straight from resident feedback networks.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b1f3a"/>
                </a:solidFill>
                <a:uFillTx/>
                <a:latin typeface="Cambria"/>
                <a:ea typeface="Cambria"/>
              </a:rPr>
              <a:t>Centralized Civic Governance Architecture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 panel"/>
          <p:cNvSpPr/>
          <p:nvPr/>
        </p:nvSpPr>
        <p:spPr>
          <a:xfrm>
            <a:off x="548640" y="1371600"/>
            <a:ext cx="5668920" cy="4937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822960" y="1691640"/>
            <a:ext cx="51202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Integrated Command &amp; Control: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Consolidating distributed departmental metrics (ICCCCs) into singular operational visual dashboards.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Real-Time Civic Oversight: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Synchronously tracking multi-vector data points covering everything from flash environmental risks to daily mass transit loads.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008c82"/>
                </a:solidFill>
                <a:uFillTx/>
                <a:latin typeface="Calibri"/>
                <a:ea typeface="Calibri"/>
              </a:rPr>
              <a:t>Eradicating Silos: </a:t>
            </a:r>
            <a:r>
              <a:rPr b="0" lang="en-US" sz="2100" strike="noStrike" u="none">
                <a:solidFill>
                  <a:srgbClr val="1b2a41"/>
                </a:solidFill>
                <a:uFillTx/>
                <a:latin typeface="Calibri"/>
                <a:ea typeface="Calibri"/>
              </a:rPr>
              <a:t>Replacing disconnected tech operations with unified, collaborative modern public safety structures.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Civic command and control center frame"/>
          <p:cNvSpPr/>
          <p:nvPr/>
        </p:nvSpPr>
        <p:spPr>
          <a:xfrm>
            <a:off x="6419160" y="1389960"/>
            <a:ext cx="5312160" cy="4900680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5e2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0" name="Civic command and control center" descr="Civic command and control center"/>
          <p:cNvPicPr/>
          <p:nvPr/>
        </p:nvPicPr>
        <p:blipFill>
          <a:blip r:embed="rId2"/>
          <a:stretch/>
        </p:blipFill>
        <p:spPr>
          <a:xfrm>
            <a:off x="6492240" y="1463040"/>
            <a:ext cx="5166000" cy="475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Closing image" descr="Night city skyline with connected sensor network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Overlay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50e20">
              <a:alpha val="62000"/>
            </a:srgbClr>
          </a:solidFill>
          <a:ln w="12700">
            <a:solidFill>
              <a:srgbClr val="050e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31520" y="2377440"/>
            <a:ext cx="10698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Thank You</a:t>
            </a:r>
            <a:endParaRPr b="0" lang="en-US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731520" y="365760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ddebfa"/>
                </a:solidFill>
                <a:uFillTx/>
                <a:latin typeface="Calibri"/>
                <a:ea typeface="Calibri"/>
              </a:rPr>
              <a:t>Building smarter, more open cities together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731520" y="48463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5b93a"/>
                </a:solidFill>
                <a:uFillTx/>
                <a:latin typeface="Calibri"/>
                <a:ea typeface="Calibri"/>
              </a:rPr>
              <a:t>Presented by: (TEAM _TITANS)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2026-10-24T13:27:35Z</dcterms:created>
  <dc:creator>PptxGenJS</dc:creator>
  <dc:description/>
  <dc:language>en-US</dc:language>
  <cp:lastModifiedBy>PptxGenJS</cp:lastModifiedBy>
  <dcterms:modified xsi:type="dcterms:W3CDTF">2026-10-24T13:27:35Z</dcterms:modified>
  <cp:revision>1</cp:revision>
  <dc:subject>PptxGenJS Presentation</dc:subject>
  <dc:title>Smart Cities &amp; CivilTech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